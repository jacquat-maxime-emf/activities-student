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93594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9940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6100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692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246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50886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5077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758869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37796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30624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7399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11488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6122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16390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17987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000070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CH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EE214-F0F9-49C1-B270-A8E7835F4B43}" type="datetimeFigureOut">
              <a:rPr lang="fr-CH" smtClean="0"/>
              <a:t>28.01.2026</a:t>
            </a:fld>
            <a:endParaRPr lang="fr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D62262-555C-4DA8-9FC7-12640809FD7F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7090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F0AD39-FF85-4A0E-A182-D2121DB0A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4642" y="2353641"/>
            <a:ext cx="5782716" cy="2150719"/>
          </a:xfrm>
          <a:noFill/>
        </p:spPr>
        <p:txBody>
          <a:bodyPr anchor="ctr">
            <a:normAutofit/>
          </a:bodyPr>
          <a:lstStyle/>
          <a:p>
            <a:r>
              <a:rPr lang="fr-CH" sz="3600" dirty="0">
                <a:solidFill>
                  <a:srgbClr val="080808"/>
                </a:solidFill>
              </a:rPr>
              <a:t>Module 324 – Réactivation SCRUM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7E09B4-2C5E-4348-84A4-7505C0FF4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8186" y="4518923"/>
            <a:ext cx="5031464" cy="1141851"/>
          </a:xfrm>
          <a:noFill/>
        </p:spPr>
        <p:txBody>
          <a:bodyPr>
            <a:normAutofit/>
          </a:bodyPr>
          <a:lstStyle/>
          <a:p>
            <a:r>
              <a:rPr lang="fr-CH" sz="2000" dirty="0">
                <a:solidFill>
                  <a:srgbClr val="080808"/>
                </a:solidFill>
              </a:rPr>
              <a:t>Groupe 1</a:t>
            </a:r>
          </a:p>
          <a:p>
            <a:r>
              <a:rPr lang="fr-CH" sz="2000" dirty="0">
                <a:solidFill>
                  <a:srgbClr val="080808"/>
                </a:solidFill>
                <a:highlight>
                  <a:srgbClr val="FFFF00"/>
                </a:highlight>
              </a:rPr>
              <a:t>[Membres du groupe]</a:t>
            </a:r>
          </a:p>
          <a:p>
            <a:endParaRPr lang="fr-CH" sz="20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857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64B395-829B-4BE0-B427-1EA612FD5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Etape 1 : </a:t>
            </a:r>
            <a:br>
              <a:rPr lang="fr-CH" dirty="0"/>
            </a:br>
            <a:r>
              <a:rPr lang="fr-CH" dirty="0"/>
              <a:t>Identification des </a:t>
            </a:r>
            <a:r>
              <a:rPr lang="fr-CH" dirty="0" err="1"/>
              <a:t>EPICs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CEA374-77EE-48C7-B46F-D492279F0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66782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49218-A304-1D29-990C-9CF79206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055C64-A0A8-EEFF-3B8E-0B80A19CB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Etape 2 : </a:t>
            </a:r>
            <a:br>
              <a:rPr lang="fr-CH" dirty="0"/>
            </a:br>
            <a:r>
              <a:rPr lang="fr-CH" dirty="0"/>
              <a:t>Déclinaison d’un EPIC en User Stories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2C01ED-EA51-0ED0-B34F-620117E4E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897678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DA22-D92C-A5AE-62AC-5C26E8E78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ADA05-3F93-4E90-06C3-D6649B9F0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7621"/>
          </a:xfrm>
        </p:spPr>
        <p:txBody>
          <a:bodyPr>
            <a:normAutofit fontScale="90000"/>
          </a:bodyPr>
          <a:lstStyle/>
          <a:p>
            <a:r>
              <a:rPr lang="fr-CH" dirty="0"/>
              <a:t>Etape 3 : Identifier les erreurs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CC0C3F-61A2-22EB-14DB-1452B2E40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227221"/>
            <a:ext cx="8907825" cy="5334000"/>
          </a:xfrm>
        </p:spPr>
        <p:txBody>
          <a:bodyPr>
            <a:normAutofit/>
          </a:bodyPr>
          <a:lstStyle/>
          <a:p>
            <a:r>
              <a:rPr lang="fr-CH" sz="1600" dirty="0"/>
              <a:t>Créer la table books en base de données</a:t>
            </a:r>
          </a:p>
          <a:p>
            <a:pPr lvl="1"/>
            <a:r>
              <a:rPr lang="fr-CH" sz="1400" dirty="0">
                <a:highlight>
                  <a:srgbClr val="FFFF00"/>
                </a:highlight>
              </a:rPr>
              <a:t>Votre réponse ici !</a:t>
            </a:r>
          </a:p>
          <a:p>
            <a:pPr lvl="1"/>
            <a:endParaRPr lang="fr-CH" sz="1400" dirty="0"/>
          </a:p>
          <a:p>
            <a:r>
              <a:rPr lang="fr-CH" sz="1600" dirty="0"/>
              <a:t>En tant que bibliothécaire, je veux ajouter un livre afin d’enrichir le catalogue</a:t>
            </a:r>
          </a:p>
          <a:p>
            <a:pPr lvl="1"/>
            <a:r>
              <a:rPr lang="fr-CH" sz="1400" dirty="0">
                <a:highlight>
                  <a:srgbClr val="FFFF00"/>
                </a:highlight>
              </a:rPr>
              <a:t>Votre réponse ici !</a:t>
            </a:r>
          </a:p>
          <a:p>
            <a:pPr lvl="1"/>
            <a:endParaRPr lang="fr-CH" sz="1400" dirty="0"/>
          </a:p>
          <a:p>
            <a:r>
              <a:rPr lang="fr-CH" sz="1600" dirty="0"/>
              <a:t>Créer une fonctionnalité de suppression de livre</a:t>
            </a:r>
          </a:p>
          <a:p>
            <a:pPr lvl="1"/>
            <a:r>
              <a:rPr lang="fr-CH" sz="1400" dirty="0">
                <a:highlight>
                  <a:srgbClr val="FFFF00"/>
                </a:highlight>
              </a:rPr>
              <a:t>Votre réponse ici !</a:t>
            </a:r>
          </a:p>
          <a:p>
            <a:endParaRPr lang="fr-CH" sz="1600" dirty="0"/>
          </a:p>
          <a:p>
            <a:r>
              <a:rPr lang="fr-CH" sz="1600" dirty="0"/>
              <a:t>En tant qu’utilisateur, je veux une base de données performante</a:t>
            </a:r>
          </a:p>
          <a:p>
            <a:pPr lvl="1"/>
            <a:r>
              <a:rPr lang="fr-CH" sz="1400" dirty="0">
                <a:highlight>
                  <a:srgbClr val="FFFF00"/>
                </a:highlight>
              </a:rPr>
              <a:t>Votre réponse ici !</a:t>
            </a:r>
          </a:p>
          <a:p>
            <a:endParaRPr lang="fr-CH" sz="1600" dirty="0"/>
          </a:p>
          <a:p>
            <a:r>
              <a:rPr lang="fr-CH" sz="1600" dirty="0"/>
              <a:t>Améliorer la gestion des livres</a:t>
            </a:r>
          </a:p>
          <a:p>
            <a:pPr lvl="1"/>
            <a:r>
              <a:rPr lang="fr-CH" sz="1400" dirty="0">
                <a:highlight>
                  <a:srgbClr val="FFFF00"/>
                </a:highlight>
              </a:rPr>
              <a:t>Votre réponse ici !</a:t>
            </a:r>
          </a:p>
        </p:txBody>
      </p:sp>
    </p:spTree>
    <p:extLst>
      <p:ext uri="{BB962C8B-B14F-4D97-AF65-F5344CB8AC3E}">
        <p14:creationId xmlns:p14="http://schemas.microsoft.com/office/powerpoint/2010/main" val="77270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26835-7F87-F40D-490F-7ADC6E8C1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C5655C-10CE-8EA9-DF4E-D1E01857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Etape 4 : </a:t>
            </a:r>
            <a:br>
              <a:rPr lang="fr-CH" dirty="0"/>
            </a:br>
            <a:r>
              <a:rPr lang="fr-CH" dirty="0" err="1"/>
              <a:t>Definition</a:t>
            </a:r>
            <a:r>
              <a:rPr lang="fr-CH" dirty="0"/>
              <a:t> Of </a:t>
            </a:r>
            <a:r>
              <a:rPr lang="fr-CH" dirty="0" err="1"/>
              <a:t>Done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063CE4-0E22-9E43-7DE5-538007B43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70753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C86C-854A-B2FE-943B-4E79796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EA8934-2C7C-0516-EC44-3B88BF090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dirty="0"/>
              <a:t>Etape 5 : </a:t>
            </a:r>
            <a:br>
              <a:rPr lang="fr-CH" dirty="0"/>
            </a:br>
            <a:r>
              <a:rPr lang="fr-CH" dirty="0"/>
              <a:t>Questions additionnelles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85129AB-5E62-9512-666D-A508E3818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Une User Story respectant les critères d’acceptation mais pas la </a:t>
            </a:r>
            <a:r>
              <a:rPr lang="fr-CH" dirty="0" err="1"/>
              <a:t>Definition</a:t>
            </a:r>
            <a:r>
              <a:rPr lang="fr-CH" dirty="0"/>
              <a:t> of </a:t>
            </a:r>
            <a:r>
              <a:rPr lang="fr-CH" dirty="0" err="1"/>
              <a:t>Done</a:t>
            </a:r>
            <a:r>
              <a:rPr lang="fr-CH" dirty="0"/>
              <a:t> est-elle </a:t>
            </a:r>
            <a:r>
              <a:rPr lang="fr-CH" dirty="0" err="1"/>
              <a:t>Done</a:t>
            </a:r>
            <a:r>
              <a:rPr lang="fr-CH" dirty="0"/>
              <a:t> ?</a:t>
            </a:r>
          </a:p>
          <a:p>
            <a:pPr lvl="1"/>
            <a:r>
              <a:rPr lang="fr-CH" dirty="0">
                <a:highlight>
                  <a:srgbClr val="FFFF00"/>
                </a:highlight>
              </a:rPr>
              <a:t>Votre réponse ici !</a:t>
            </a:r>
          </a:p>
          <a:p>
            <a:endParaRPr lang="fr-CH" dirty="0"/>
          </a:p>
          <a:p>
            <a:r>
              <a:rPr lang="fr-CH" dirty="0"/>
              <a:t>La </a:t>
            </a:r>
            <a:r>
              <a:rPr lang="fr-CH" dirty="0" err="1"/>
              <a:t>Definition</a:t>
            </a:r>
            <a:r>
              <a:rPr lang="fr-CH" dirty="0"/>
              <a:t> of </a:t>
            </a:r>
            <a:r>
              <a:rPr lang="fr-CH" dirty="0" err="1"/>
              <a:t>Done</a:t>
            </a:r>
            <a:r>
              <a:rPr lang="fr-CH" dirty="0"/>
              <a:t> peut-elle varier d’une équipe à l’autre ?</a:t>
            </a:r>
          </a:p>
          <a:p>
            <a:pPr lvl="1"/>
            <a:r>
              <a:rPr lang="fr-CH" dirty="0">
                <a:highlight>
                  <a:srgbClr val="FFFF00"/>
                </a:highlight>
              </a:rPr>
              <a:t>Votre réponse ici !</a:t>
            </a:r>
          </a:p>
          <a:p>
            <a:endParaRPr lang="fr-CH" dirty="0"/>
          </a:p>
          <a:p>
            <a:r>
              <a:rPr lang="fr-CH" dirty="0"/>
              <a:t>Qui est responsable du respect de la </a:t>
            </a:r>
            <a:r>
              <a:rPr lang="fr-CH" dirty="0" err="1"/>
              <a:t>Definition</a:t>
            </a:r>
            <a:r>
              <a:rPr lang="fr-CH" dirty="0"/>
              <a:t> of </a:t>
            </a:r>
            <a:r>
              <a:rPr lang="fr-CH" dirty="0" err="1"/>
              <a:t>Done</a:t>
            </a:r>
            <a:r>
              <a:rPr lang="fr-CH" dirty="0"/>
              <a:t> ?</a:t>
            </a:r>
          </a:p>
          <a:p>
            <a:pPr lvl="1" fontAlgn="ctr"/>
            <a:r>
              <a:rPr lang="fr-CH" dirty="0">
                <a:highlight>
                  <a:srgbClr val="FFFF00"/>
                </a:highlight>
              </a:rPr>
              <a:t>Votre réponse ici !</a:t>
            </a:r>
          </a:p>
          <a:p>
            <a:pPr fontAlgn="ctr"/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7737950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30085CA382D3479F6090881D744F2C" ma:contentTypeVersion="12" ma:contentTypeDescription="Crée un document." ma:contentTypeScope="" ma:versionID="adb96a28d5d3c1b7fcdf0b278081624b">
  <xsd:schema xmlns:xsd="http://www.w3.org/2001/XMLSchema" xmlns:xs="http://www.w3.org/2001/XMLSchema" xmlns:p="http://schemas.microsoft.com/office/2006/metadata/properties" xmlns:ns2="f362dcbd-3381-4488-bf01-0bdedbe53e28" xmlns:ns3="b074d486-7ccc-43c0-a998-b71f8fc0db46" targetNamespace="http://schemas.microsoft.com/office/2006/metadata/properties" ma:root="true" ma:fieldsID="c6c911add06d6a530ee80b0685828af3" ns2:_="" ns3:_="">
    <xsd:import namespace="f362dcbd-3381-4488-bf01-0bdedbe53e28"/>
    <xsd:import namespace="b074d486-7ccc-43c0-a998-b71f8fc0db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2dcbd-3381-4488-bf01-0bdedbe53e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fbd933d8-63e4-4f7e-90f6-66429bb13b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4d486-7ccc-43c0-a998-b71f8fc0db4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b020d57-971f-4636-9fb7-6e6576dba473}" ma:internalName="TaxCatchAll" ma:showField="CatchAllData" ma:web="b074d486-7ccc-43c0-a998-b71f8fc0db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074d486-7ccc-43c0-a998-b71f8fc0db46" xsi:nil="true"/>
    <lcf76f155ced4ddcb4097134ff3c332f xmlns="f362dcbd-3381-4488-bf01-0bdedbe53e2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3E2FFC-29D7-4D3D-89A6-A78B5C2218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62dcbd-3381-4488-bf01-0bdedbe53e28"/>
    <ds:schemaRef ds:uri="b074d486-7ccc-43c0-a998-b71f8fc0db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628B45-7CFC-4B54-84E9-1257152168AD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b074d486-7ccc-43c0-a998-b71f8fc0db46"/>
    <ds:schemaRef ds:uri="f362dcbd-3381-4488-bf01-0bdedbe53e28"/>
  </ds:schemaRefs>
</ds:datastoreItem>
</file>

<file path=customXml/itemProps3.xml><?xml version="1.0" encoding="utf-8"?>
<ds:datastoreItem xmlns:ds="http://schemas.openxmlformats.org/officeDocument/2006/customXml" ds:itemID="{53380AE0-3638-41E3-BB1B-05F8F305B5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163</Words>
  <Application>Microsoft Office PowerPoint</Application>
  <PresentationFormat>Grand écran</PresentationFormat>
  <Paragraphs>30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Facette</vt:lpstr>
      <vt:lpstr>Module 324 – Réactivation SCRUM</vt:lpstr>
      <vt:lpstr>Etape 1 :  Identification des EPICs</vt:lpstr>
      <vt:lpstr>Etape 2 :  Déclinaison d’un EPIC en User Stories</vt:lpstr>
      <vt:lpstr>Etape 3 : Identifier les erreurs</vt:lpstr>
      <vt:lpstr>Etape 4 :  Definition Of Done</vt:lpstr>
      <vt:lpstr>Etape 5 :  Questions additionnelles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114 - Récapitulatif</dc:title>
  <dc:creator>Rouiller Nicolas</dc:creator>
  <cp:lastModifiedBy>Rouiller Nicolas</cp:lastModifiedBy>
  <cp:revision>7</cp:revision>
  <dcterms:created xsi:type="dcterms:W3CDTF">2021-06-14T16:56:32Z</dcterms:created>
  <dcterms:modified xsi:type="dcterms:W3CDTF">2026-01-28T08:46:34Z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0x0101003630085CA382D3479F6090881D744F2C</vt:lpwstr>
  </property>
</Properties>
</file>